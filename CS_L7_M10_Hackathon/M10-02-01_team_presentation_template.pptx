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09728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LEVEL 7 AI &amp; DATA SCIENCE HACKATHON</a:t>
            </a:r>
          </a:p>
          <a:p>
            <a:pPr>
              <a:spcAft>
                <a:spcPts val="1000"/>
              </a:spcAft>
              <a:defRPr sz="3200" b="1">
                <a:solidFill>
                  <a:srgbClr val="0F172A"/>
                </a:solidFill>
                <a:latin typeface="Segoe UI"/>
              </a:defRPr>
            </a:pPr>
            <a:r>
              <a:t>Clinical Triage &amp; Machine Learning Decision Pipeline</a:t>
            </a:r>
          </a:p>
          <a:p>
            <a:pPr>
              <a:spcAft>
                <a:spcPts val="2800"/>
              </a:spcAft>
              <a:defRPr sz="1800">
                <a:solidFill>
                  <a:srgbClr val="334155"/>
                </a:solidFill>
                <a:latin typeface="Segoe UI"/>
              </a:defRPr>
            </a:pPr>
            <a:r>
              <a:t>End-to-End Workflow Architecture &amp; Team Consensus Framework</a:t>
            </a:r>
          </a:p>
          <a:p>
            <a:pPr>
              <a:spcAft>
                <a:spcPts val="24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Session Objective: Establish a neutral, structured pipeline across 6 core engineering stages. Align on methodology, compare candidate models (LightGBM, XGBoost, CatBoost), and agree key decisions collaboratively.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5120640"/>
            <a:ext cx="685800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💬 Working Agreement: Open discussion template — editable for team consensus and shared ownership.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FRAMEWORK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Master Pipeline Architecture: 6-Stage Engineering Progression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650949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650949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900" b="1">
                <a:solidFill>
                  <a:srgbClr val="E0F2FE"/>
                </a:solidFill>
                <a:latin typeface="Segoe UI"/>
              </a:defRPr>
            </a:pPr>
            <a:r>
              <a:t>STAGE 1</a:t>
            </a:r>
          </a:p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Problem Framing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77440"/>
            <a:ext cx="1504645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  <a:latin typeface="Segoe UI"/>
              </a:defRPr>
            </a:pPr>
            <a:r>
              <a:t>CORE OBJECTIVE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Binary triage vs mass screening; loss asymmetry.</a:t>
            </a:r>
          </a:p>
          <a:p>
            <a:pPr>
              <a:defRPr sz="850" b="1">
                <a:solidFill>
                  <a:srgbClr val="64748B"/>
                </a:solidFill>
                <a:latin typeface="Segoe UI"/>
              </a:defRPr>
            </a:pPr>
            <a:r>
              <a:t>CANDIDATE OPTIONS</a:t>
            </a:r>
          </a:p>
          <a:p>
            <a:pPr>
              <a:defRPr sz="900">
                <a:solidFill>
                  <a:srgbClr val="0F172A"/>
                </a:solidFill>
                <a:latin typeface="Segoe UI"/>
              </a:defRPr>
            </a:pPr>
            <a:r>
              <a:t>• Secondary triage</a:t>
            </a:r>
          </a:p>
          <a:p>
            <a:pPr>
              <a:defRPr sz="900">
                <a:solidFill>
                  <a:srgbClr val="0F172A"/>
                </a:solidFill>
                <a:latin typeface="Segoe UI"/>
              </a:defRPr>
            </a:pPr>
            <a:r>
              <a:t>• Mass screening</a:t>
            </a:r>
          </a:p>
          <a:p>
            <a:pPr>
              <a:spcAft>
                <a:spcPts val="8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Loss: FN &gt;&gt; FP</a:t>
            </a:r>
          </a:p>
          <a:p>
            <a:pPr>
              <a:defRPr sz="850" b="1">
                <a:solidFill>
                  <a:srgbClr val="166534"/>
                </a:solidFill>
                <a:latin typeface="Segoe UI"/>
              </a:defRPr>
            </a:pPr>
            <a:r>
              <a:t>TEAM CONSENSUS</a:t>
            </a:r>
          </a:p>
          <a:p>
            <a:pPr>
              <a:defRPr sz="900" i="1">
                <a:solidFill>
                  <a:srgbClr val="64748B"/>
                </a:solidFill>
                <a:latin typeface="Segoe UI"/>
              </a:defRPr>
            </a:pPr>
            <a:r>
              <a:t>[Click to add agreed decision &amp; rationale]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47061" y="1463040"/>
            <a:ext cx="1650949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47061" y="1463040"/>
            <a:ext cx="1650949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900" b="1">
                <a:solidFill>
                  <a:srgbClr val="E0F2FE"/>
                </a:solidFill>
                <a:latin typeface="Segoe UI"/>
              </a:defRPr>
            </a:pPr>
            <a:r>
              <a:t>STAGE 2</a:t>
            </a:r>
          </a:p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Data &amp; Quality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0213" y="2377440"/>
            <a:ext cx="1504645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  <a:latin typeface="Segoe UI"/>
              </a:defRPr>
            </a:pPr>
            <a:r>
              <a:t>CORE OBJECTIVE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Imbalance (5.3%), missingness, policy shifts.</a:t>
            </a:r>
          </a:p>
          <a:p>
            <a:pPr>
              <a:defRPr sz="850" b="1">
                <a:solidFill>
                  <a:srgbClr val="64748B"/>
                </a:solidFill>
                <a:latin typeface="Segoe UI"/>
              </a:defRPr>
            </a:pPr>
            <a:r>
              <a:t>CANDIDATE OPTIONS</a:t>
            </a:r>
          </a:p>
          <a:p>
            <a:pPr>
              <a:defRPr sz="900">
                <a:solidFill>
                  <a:srgbClr val="0F172A"/>
                </a:solidFill>
                <a:latin typeface="Segoe UI"/>
              </a:defRPr>
            </a:pPr>
            <a:r>
              <a:t>• Audit 278k tests</a:t>
            </a:r>
          </a:p>
          <a:p>
            <a:pPr>
              <a:defRPr sz="900">
                <a:solidFill>
                  <a:srgbClr val="0F172A"/>
                </a:solidFill>
                <a:latin typeface="Segoe UI"/>
              </a:defRPr>
            </a:pPr>
            <a:r>
              <a:t>• 94.7% accuracy trap</a:t>
            </a:r>
          </a:p>
          <a:p>
            <a:pPr>
              <a:spcAft>
                <a:spcPts val="8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April 15 age cliff</a:t>
            </a:r>
          </a:p>
          <a:p>
            <a:pPr>
              <a:defRPr sz="850" b="1">
                <a:solidFill>
                  <a:srgbClr val="166534"/>
                </a:solidFill>
                <a:latin typeface="Segoe UI"/>
              </a:defRPr>
            </a:pPr>
            <a:r>
              <a:t>TEAM CONSENSUS</a:t>
            </a:r>
          </a:p>
          <a:p>
            <a:pPr>
              <a:defRPr sz="900" i="1">
                <a:solidFill>
                  <a:srgbClr val="64748B"/>
                </a:solidFill>
                <a:latin typeface="Segoe UI"/>
              </a:defRPr>
            </a:pPr>
            <a:r>
              <a:t>[Click to add agreed decision &amp; rationale]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2602" y="1463040"/>
            <a:ext cx="1650949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2602" y="1463040"/>
            <a:ext cx="1650949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900" b="1">
                <a:solidFill>
                  <a:srgbClr val="E0F2FE"/>
                </a:solidFill>
                <a:latin typeface="Segoe UI"/>
              </a:defRPr>
            </a:pPr>
            <a:r>
              <a:t>STAGE 3</a:t>
            </a:r>
          </a:p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5754" y="2377440"/>
            <a:ext cx="1504645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  <a:latin typeface="Segoe UI"/>
              </a:defRPr>
            </a:pPr>
            <a:r>
              <a:t>CORE OBJECTIVE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Zero leakage pipeline; temporal hold-out.</a:t>
            </a:r>
          </a:p>
          <a:p>
            <a:pPr>
              <a:defRPr sz="850" b="1">
                <a:solidFill>
                  <a:srgbClr val="64748B"/>
                </a:solidFill>
                <a:latin typeface="Segoe UI"/>
              </a:defRPr>
            </a:pPr>
            <a:r>
              <a:t>CANDIDATE OPTIONS</a:t>
            </a:r>
          </a:p>
          <a:p>
            <a:pPr>
              <a:defRPr sz="900">
                <a:solidFill>
                  <a:srgbClr val="0F172A"/>
                </a:solidFill>
                <a:latin typeface="Segoe UI"/>
              </a:defRPr>
            </a:pPr>
            <a:r>
              <a:t>• Scikit-Learn Pipeline</a:t>
            </a:r>
          </a:p>
          <a:p>
            <a:pPr>
              <a:defRPr sz="900">
                <a:solidFill>
                  <a:srgbClr val="0F172A"/>
                </a:solidFill>
                <a:latin typeface="Segoe UI"/>
              </a:defRPr>
            </a:pPr>
            <a:r>
              <a:t>• Prospective split</a:t>
            </a:r>
          </a:p>
          <a:p>
            <a:pPr>
              <a:spcAft>
                <a:spcPts val="8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Random shuffle (trap)</a:t>
            </a:r>
          </a:p>
          <a:p>
            <a:pPr>
              <a:defRPr sz="850" b="1">
                <a:solidFill>
                  <a:srgbClr val="166534"/>
                </a:solidFill>
                <a:latin typeface="Segoe UI"/>
              </a:defRPr>
            </a:pPr>
            <a:r>
              <a:t>TEAM CONSENSUS</a:t>
            </a:r>
          </a:p>
          <a:p>
            <a:pPr>
              <a:defRPr sz="900" i="1">
                <a:solidFill>
                  <a:srgbClr val="64748B"/>
                </a:solidFill>
                <a:latin typeface="Segoe UI"/>
              </a:defRPr>
            </a:pPr>
            <a:r>
              <a:t>[Click to add agreed decision &amp; rationale]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8143" y="1463040"/>
            <a:ext cx="1650949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8143" y="1463040"/>
            <a:ext cx="1650949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900" b="1">
                <a:solidFill>
                  <a:srgbClr val="E0F2FE"/>
                </a:solidFill>
                <a:latin typeface="Segoe UI"/>
              </a:defRPr>
            </a:pPr>
            <a:r>
              <a:t>STAGE 4</a:t>
            </a:r>
          </a:p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Model Benchmark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1295" y="2377440"/>
            <a:ext cx="1504645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  <a:latin typeface="Segoe UI"/>
              </a:defRPr>
            </a:pPr>
            <a:r>
              <a:t>CORE OBJECTIVE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Baselines vs LightGBM, XGBoost, CatBoost.</a:t>
            </a:r>
          </a:p>
          <a:p>
            <a:pPr>
              <a:defRPr sz="850" b="1">
                <a:solidFill>
                  <a:srgbClr val="64748B"/>
                </a:solidFill>
                <a:latin typeface="Segoe UI"/>
              </a:defRPr>
            </a:pPr>
            <a:r>
              <a:t>CANDIDATE OPTIONS</a:t>
            </a:r>
          </a:p>
          <a:p>
            <a:pPr>
              <a:defRPr sz="900">
                <a:solidFill>
                  <a:srgbClr val="0F172A"/>
                </a:solidFill>
                <a:latin typeface="Segoe UI"/>
              </a:defRPr>
            </a:pPr>
            <a:r>
              <a:t>• LightGBM (leaf-wise)</a:t>
            </a:r>
          </a:p>
          <a:p>
            <a:pPr>
              <a:defRPr sz="900">
                <a:solidFill>
                  <a:srgbClr val="0F172A"/>
                </a:solidFill>
                <a:latin typeface="Segoe UI"/>
              </a:defRPr>
            </a:pPr>
            <a:r>
              <a:t>• XGBoost (depth-wise)</a:t>
            </a:r>
          </a:p>
          <a:p>
            <a:pPr>
              <a:defRPr sz="900">
                <a:solidFill>
                  <a:srgbClr val="0F172A"/>
                </a:solidFill>
                <a:latin typeface="Segoe UI"/>
              </a:defRPr>
            </a:pPr>
            <a:r>
              <a:t>• CatBoost (symmetric)</a:t>
            </a:r>
          </a:p>
          <a:p>
            <a:pPr>
              <a:spcAft>
                <a:spcPts val="8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Decision Tree base</a:t>
            </a:r>
          </a:p>
          <a:p>
            <a:pPr>
              <a:defRPr sz="850" b="1">
                <a:solidFill>
                  <a:srgbClr val="166534"/>
                </a:solidFill>
                <a:latin typeface="Segoe UI"/>
              </a:defRPr>
            </a:pPr>
            <a:r>
              <a:t>TEAM CONSENSUS</a:t>
            </a:r>
          </a:p>
          <a:p>
            <a:pPr>
              <a:defRPr sz="900" i="1">
                <a:solidFill>
                  <a:srgbClr val="64748B"/>
                </a:solidFill>
                <a:latin typeface="Segoe UI"/>
              </a:defRPr>
            </a:pPr>
            <a:r>
              <a:t>[Click to add agreed decision &amp; rationale]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3684" y="1463040"/>
            <a:ext cx="1650949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93684" y="1463040"/>
            <a:ext cx="1650949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900" b="1">
                <a:solidFill>
                  <a:srgbClr val="E0F2FE"/>
                </a:solidFill>
                <a:latin typeface="Segoe UI"/>
              </a:defRPr>
            </a:pPr>
            <a:r>
              <a:t>STAGE 5</a:t>
            </a:r>
          </a:p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Explainability &amp; Ethics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6836" y="2377440"/>
            <a:ext cx="1504645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  <a:latin typeface="Segoe UI"/>
              </a:defRPr>
            </a:pPr>
            <a:r>
              <a:t>CORE OBJECTIVE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TreeSHAP attribution; demographic parity.</a:t>
            </a:r>
          </a:p>
          <a:p>
            <a:pPr>
              <a:defRPr sz="850" b="1">
                <a:solidFill>
                  <a:srgbClr val="64748B"/>
                </a:solidFill>
                <a:latin typeface="Segoe UI"/>
              </a:defRPr>
            </a:pPr>
            <a:r>
              <a:t>CANDIDATE OPTIONS</a:t>
            </a:r>
          </a:p>
          <a:p>
            <a:pPr>
              <a:defRPr sz="900">
                <a:solidFill>
                  <a:srgbClr val="0F172A"/>
                </a:solidFill>
                <a:latin typeface="Segoe UI"/>
              </a:defRPr>
            </a:pPr>
            <a:r>
              <a:t>• TreeSHAP attribution</a:t>
            </a:r>
          </a:p>
          <a:p>
            <a:pPr>
              <a:defRPr sz="900">
                <a:solidFill>
                  <a:srgbClr val="0F172A"/>
                </a:solidFill>
                <a:latin typeface="Segoe UI"/>
              </a:defRPr>
            </a:pPr>
            <a:r>
              <a:t>• Subgroup parity</a:t>
            </a:r>
          </a:p>
          <a:p>
            <a:pPr>
              <a:spcAft>
                <a:spcPts val="8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Demographically blind</a:t>
            </a:r>
          </a:p>
          <a:p>
            <a:pPr>
              <a:defRPr sz="850" b="1">
                <a:solidFill>
                  <a:srgbClr val="166534"/>
                </a:solidFill>
                <a:latin typeface="Segoe UI"/>
              </a:defRPr>
            </a:pPr>
            <a:r>
              <a:t>TEAM CONSENSUS</a:t>
            </a:r>
          </a:p>
          <a:p>
            <a:pPr>
              <a:defRPr sz="900" i="1">
                <a:solidFill>
                  <a:srgbClr val="64748B"/>
                </a:solidFill>
                <a:latin typeface="Segoe UI"/>
              </a:defRPr>
            </a:pPr>
            <a:r>
              <a:t>[Click to add agreed decision &amp; rationale]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09225" y="1463040"/>
            <a:ext cx="1650949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09225" y="1463040"/>
            <a:ext cx="1650949" cy="8229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900" b="1">
                <a:solidFill>
                  <a:srgbClr val="E0F2FE"/>
                </a:solidFill>
                <a:latin typeface="Segoe UI"/>
              </a:defRPr>
            </a:pPr>
            <a:r>
              <a:t>STAGE 6</a:t>
            </a:r>
          </a:p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Clinical 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82377" y="2377440"/>
            <a:ext cx="1504645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  <a:latin typeface="Segoe UI"/>
              </a:defRPr>
            </a:pPr>
            <a:r>
              <a:t>CORE OBJECTIVE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Cutoff tuning (tau=0.20); 2026 MLOps governance.</a:t>
            </a:r>
          </a:p>
          <a:p>
            <a:pPr>
              <a:defRPr sz="850" b="1">
                <a:solidFill>
                  <a:srgbClr val="64748B"/>
                </a:solidFill>
                <a:latin typeface="Segoe UI"/>
              </a:defRPr>
            </a:pPr>
            <a:r>
              <a:t>CANDIDATE OPTIONS</a:t>
            </a:r>
          </a:p>
          <a:p>
            <a:pPr>
              <a:defRPr sz="900">
                <a:solidFill>
                  <a:srgbClr val="0F172A"/>
                </a:solidFill>
                <a:latin typeface="Segoe UI"/>
              </a:defRPr>
            </a:pPr>
            <a:r>
              <a:t>• Default tau = 0.50</a:t>
            </a:r>
          </a:p>
          <a:p>
            <a:pPr>
              <a:defRPr sz="900">
                <a:solidFill>
                  <a:srgbClr val="0F172A"/>
                </a:solidFill>
                <a:latin typeface="Segoe UI"/>
              </a:defRPr>
            </a:pPr>
            <a:r>
              <a:t>• Calibrated tau = 0.20</a:t>
            </a:r>
          </a:p>
          <a:p>
            <a:pPr>
              <a:defRPr sz="900">
                <a:solidFill>
                  <a:srgbClr val="0F172A"/>
                </a:solidFill>
                <a:latin typeface="Segoe UI"/>
              </a:defRPr>
            </a:pPr>
            <a:r>
              <a:t>• 24-72h lab latency</a:t>
            </a:r>
          </a:p>
          <a:p>
            <a:pPr>
              <a:spcAft>
                <a:spcPts val="8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3-tier escalation</a:t>
            </a:r>
          </a:p>
          <a:p>
            <a:pPr>
              <a:defRPr sz="850" b="1">
                <a:solidFill>
                  <a:srgbClr val="166534"/>
                </a:solidFill>
                <a:latin typeface="Segoe UI"/>
              </a:defRPr>
            </a:pPr>
            <a:r>
              <a:t>TEAM CONSENSUS</a:t>
            </a:r>
          </a:p>
          <a:p>
            <a:pPr>
              <a:defRPr sz="900" i="1">
                <a:solidFill>
                  <a:srgbClr val="64748B"/>
                </a:solidFill>
                <a:latin typeface="Segoe UI"/>
              </a:defRPr>
            </a:pPr>
            <a:r>
              <a:t>[Click to add agreed decision &amp; rationale]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STAGES 1 TO 3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Foundational Decisions: Problem Formulation, Data &amp;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93338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393338" cy="5943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STAGE 1: PROBLEM FORMULATION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48840"/>
            <a:ext cx="3064154" cy="406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CORE FOCUS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Framing the clinical bottleneck under acute resource constraints.</a:t>
            </a:r>
          </a:p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KEY DISCUSSION QUESTION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Are we doing general population screening or ambulatory triage at testing centres?</a:t>
            </a:r>
          </a:p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ASYMMETRIC RISK PROFILE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A False Negative (infected patient sent home) drives community transmission. A False Positive simply uses a swab. False Negatives are ~5x to 10x more costly.</a:t>
            </a:r>
          </a:p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TEAM OPTIONS TO ALIGN ON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Target Population: Ambulatory symptom presenters.</a:t>
            </a:r>
            <a:br/>
            <a:r>
              <a:t>• Input Constraints: Non-invasive self-reporting (&lt;30s).</a:t>
            </a:r>
            <a:br/>
            <a:r>
              <a:t>• Output: Continuous risk probability P(y=1|X).</a:t>
            </a:r>
          </a:p>
          <a:p>
            <a:pPr>
              <a:defRPr sz="850" b="1">
                <a:solidFill>
                  <a:srgbClr val="166534"/>
                </a:solidFill>
                <a:latin typeface="Segoe UI"/>
              </a:defRPr>
            </a:pPr>
            <a:r>
              <a:t>TEAM AGREEMENT [EDITABLE]</a:t>
            </a:r>
          </a:p>
          <a:p>
            <a:pPr>
              <a:spcAft>
                <a:spcPts val="700"/>
              </a:spcAft>
              <a:defRPr sz="950" b="1">
                <a:solidFill>
                  <a:srgbClr val="166534"/>
                </a:solidFill>
                <a:latin typeface="Segoe UI"/>
              </a:defRPr>
            </a:pPr>
            <a:r>
              <a:t>Agreed Scope: Secondary triage tool to prioritise PCR swabbing.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9178" y="1463040"/>
            <a:ext cx="3393338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99178" y="1463040"/>
            <a:ext cx="3393338" cy="5943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STAGE 2: DATA &amp; EPIDEMIOLOGICAL REALITIES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3770" y="2148840"/>
            <a:ext cx="3064154" cy="406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CORE FOCUS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Ingesting 278,848 tests and auditing data quality realities.</a:t>
            </a:r>
          </a:p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KEY DISCUSSION QUESTION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How do we handle the 94.7% vs 5.3% class imbalance and the April 15 age redaction?</a:t>
            </a:r>
          </a:p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THE ACCURACY FALLACY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Predicting 'negative' for every patient yields 94.71% accuracy but catches 0% of infections. ROC-AUC and PR-AUC must be our evaluation metrics.</a:t>
            </a:r>
          </a:p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TEAM OPTIONS TO ALIGN ON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Filtering: Remove 3,892 inconclusive and 19k missing gender records.</a:t>
            </a:r>
            <a:br/>
            <a:r>
              <a:t>• Privacy Cliff: Account for MoH redacting age on April 15.</a:t>
            </a:r>
            <a:br/>
            <a:r>
              <a:t>• Symptom Signal: Cough/fever are common; headache is specific.</a:t>
            </a:r>
          </a:p>
          <a:p>
            <a:pPr>
              <a:defRPr sz="850" b="1">
                <a:solidFill>
                  <a:srgbClr val="166534"/>
                </a:solidFill>
                <a:latin typeface="Segoe UI"/>
              </a:defRPr>
            </a:pPr>
            <a:r>
              <a:t>TEAM AGREEMENT [EDITABLE]</a:t>
            </a:r>
          </a:p>
          <a:p>
            <a:pPr>
              <a:spcAft>
                <a:spcPts val="700"/>
              </a:spcAft>
              <a:defRPr sz="950" b="1">
                <a:solidFill>
                  <a:srgbClr val="166534"/>
                </a:solidFill>
                <a:latin typeface="Segoe UI"/>
              </a:defRPr>
            </a:pPr>
            <a:r>
              <a:t>Clean Cohort: n = 255,668. Build age-free fallback for resilience.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6836" y="1463040"/>
            <a:ext cx="3393338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66836" y="1463040"/>
            <a:ext cx="3393338" cy="5943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STAGE 3: PREPROCESSING &amp; PIPELINE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1428" y="2148840"/>
            <a:ext cx="3064154" cy="406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CORE FOCUS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Zero-leakage architecture and prospective hold-out validation.</a:t>
            </a:r>
          </a:p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KEY DISCUSSION QUESTION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Should we evaluate via standard random train/test split or chronological prospective split?</a:t>
            </a:r>
          </a:p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THE LOOK-AHEAD TRAP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Random shuffling leaks future epidemic dynamics into the past, artificially inflating AUC to 0.9157. Chronological hold-out preserves the true Arrow of Time (0.8443 AUC).</a:t>
            </a:r>
          </a:p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TEAM OPTIONS TO ALIGN ON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Architecture: Encapsulated ColumnTransformer + Pipeline.</a:t>
            </a:r>
            <a:br/>
            <a:r>
              <a:t>• Partitioning: Train on March 22–April 7; Test on April 8–14.</a:t>
            </a:r>
            <a:br/>
            <a:r>
              <a:t>• Encoders: OneHotEncoder fitted strictly on training data.</a:t>
            </a:r>
          </a:p>
          <a:p>
            <a:pPr>
              <a:defRPr sz="850" b="1">
                <a:solidFill>
                  <a:srgbClr val="166534"/>
                </a:solidFill>
                <a:latin typeface="Segoe UI"/>
              </a:defRPr>
            </a:pPr>
            <a:r>
              <a:t>TEAM AGREEMENT [EDITABLE]</a:t>
            </a:r>
          </a:p>
          <a:p>
            <a:pPr>
              <a:spcAft>
                <a:spcPts val="700"/>
              </a:spcAft>
              <a:defRPr sz="950" b="1">
                <a:solidFill>
                  <a:srgbClr val="166534"/>
                </a:solidFill>
                <a:latin typeface="Segoe UI"/>
              </a:defRPr>
            </a:pPr>
            <a:r>
              <a:t>Strict Arrow of Time validation to simulate live hospital intake.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STAGES 4 TO 6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Analytical &amp; Operational Decisions: Modelling, Ethics &amp; MLOps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93338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393338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STAGE 4: MODELLING &amp; BENCHMARKS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48840"/>
            <a:ext cx="3064154" cy="406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CORE FOCUS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Comparing algorithms and isolating genuine boosting performance.</a:t>
            </a:r>
          </a:p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KEY DISCUSSION QUESTION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Which models should we benchmark? Does CatBoost add value over LightGBM / XGBoost?</a:t>
            </a:r>
          </a:p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BOOSTING ENGINE REALITIES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LightGBM (0.8443) and XGBoost (0.8448) perform identically. CatBoost operates well but symmetric trees offer no advantage on 8 binary features without high-cardinality targets.</a:t>
            </a:r>
          </a:p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TEAM OPTIONS TO ALIGN ON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Baselines: Zero-Rule Dummy (AUC 0.50), Logistic Regression (0.8336), Decision Tree (0.8357).</a:t>
            </a:r>
            <a:br/>
            <a:r>
              <a:t>• Champions: LightGBM (fastest), XGBoost, CatBoost.</a:t>
            </a:r>
            <a:br/>
            <a:r>
              <a:t>• Resilient Variant: Symptom-Only model (AUC 0.8448).</a:t>
            </a:r>
          </a:p>
          <a:p>
            <a:pPr>
              <a:defRPr sz="850" b="1">
                <a:solidFill>
                  <a:srgbClr val="166534"/>
                </a:solidFill>
                <a:latin typeface="Segoe UI"/>
              </a:defRPr>
            </a:pPr>
            <a:r>
              <a:t>TEAM AGREEMENT [EDITABLE]</a:t>
            </a:r>
          </a:p>
          <a:p>
            <a:pPr>
              <a:spcAft>
                <a:spcPts val="700"/>
              </a:spcAft>
              <a:defRPr sz="950" b="1">
                <a:solidFill>
                  <a:srgbClr val="166534"/>
                </a:solidFill>
                <a:latin typeface="Segoe UI"/>
              </a:defRPr>
            </a:pPr>
            <a:r>
              <a:t>Benchmark: LightGBM champion; include CatBoost/XGBoost for completeness.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9178" y="1463040"/>
            <a:ext cx="3393338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99178" y="1463040"/>
            <a:ext cx="3393338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STAGE 5: EXPLAINABILITY &amp; ETHICS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3770" y="2148840"/>
            <a:ext cx="3064154" cy="406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CORE FOCUS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Clinical attribution and auditing demographic subgroup fairness.</a:t>
            </a:r>
          </a:p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KEY DISCUSSION QUESTION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Is the model clinically interpretable and fair across protected demographic groups?</a:t>
            </a:r>
          </a:p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CLINICAL &amp; FAIRNESS AUDITS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TreeSHAP confirms contact and fever drive prediction. Gender audit: Female AUC 0.8540 vs Male AUC 0.8243. Age audit: &lt;60 AUC 0.8457 vs 60+ AUC 0.8328.</a:t>
            </a:r>
          </a:p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TEAM OPTIONS TO ALIGN ON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Explainability: TreeSHAP beeswarm and force plots.</a:t>
            </a:r>
            <a:br/>
            <a:r>
              <a:t>• Fairness: Auditing equal opportunity / ROC disparity.</a:t>
            </a:r>
            <a:br/>
            <a:r>
              <a:t>• Demographically Blind: Model without age/gender achieves 0.8400 AUC, rescuing 19,445 unrecorded patients.</a:t>
            </a:r>
          </a:p>
          <a:p>
            <a:pPr>
              <a:defRPr sz="850" b="1">
                <a:solidFill>
                  <a:srgbClr val="166534"/>
                </a:solidFill>
                <a:latin typeface="Segoe UI"/>
              </a:defRPr>
            </a:pPr>
            <a:r>
              <a:t>TEAM AGREEMENT [EDITABLE]</a:t>
            </a:r>
          </a:p>
          <a:p>
            <a:pPr>
              <a:spcAft>
                <a:spcPts val="700"/>
              </a:spcAft>
              <a:defRPr sz="950" b="1">
                <a:solidFill>
                  <a:srgbClr val="166534"/>
                </a:solidFill>
                <a:latin typeface="Segoe UI"/>
              </a:defRPr>
            </a:pPr>
            <a:r>
              <a:t>Demographically blind fallback approved for unrecorded patient intake.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6836" y="1463040"/>
            <a:ext cx="3393338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66836" y="1463040"/>
            <a:ext cx="3393338" cy="5943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STAGE 6: OPERATIONAL CUTOFF &amp; MLOPS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1428" y="2148840"/>
            <a:ext cx="3064154" cy="406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CORE FOCUS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Calibrating decision thresholds and 2026 clinical MLOps.</a:t>
            </a:r>
          </a:p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KEY DISCUSSION QUESTION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What decision threshold should we deploy, and how do we handle 24-72h lab latency?</a:t>
            </a:r>
          </a:p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OPERATING TRADE-OFFS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Default tau=0.50 misses 567 infected patients (74.9% sensitivity). Calibrated tau=0.20 catches 137 additional infected patients (81.2% sensitivity) with 98.2% NPV.</a:t>
            </a:r>
          </a:p>
          <a:p>
            <a:pPr>
              <a:defRPr sz="850" b="1">
                <a:solidFill>
                  <a:srgbClr val="0284C7"/>
                </a:solidFill>
                <a:latin typeface="Segoe UI"/>
              </a:defRPr>
            </a:pPr>
            <a:r>
              <a:t>TEAM OPTIONS TO ALIGN ON</a:t>
            </a:r>
          </a:p>
          <a:p>
            <a:pPr>
              <a:spcAft>
                <a:spcPts val="7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Threshold Policy: Operational cutoff tau = 0.20.</a:t>
            </a:r>
            <a:br/>
            <a:r>
              <a:t>• Escalation: 3-tier protocol (Home &lt;0.15, Review 0.15-0.25, Swab &gt;0.25).</a:t>
            </a:r>
            <a:br/>
            <a:r>
              <a:t>• Delayed Labels: Asynchronous LIMS reconciliation; weekly rolling retrain.</a:t>
            </a:r>
          </a:p>
          <a:p>
            <a:pPr>
              <a:defRPr sz="850" b="1">
                <a:solidFill>
                  <a:srgbClr val="166534"/>
                </a:solidFill>
                <a:latin typeface="Segoe UI"/>
              </a:defRPr>
            </a:pPr>
            <a:r>
              <a:t>TEAM AGREEMENT [EDITABLE]</a:t>
            </a:r>
          </a:p>
          <a:p>
            <a:pPr>
              <a:spcAft>
                <a:spcPts val="700"/>
              </a:spcAft>
              <a:defRPr sz="950" b="1">
                <a:solidFill>
                  <a:srgbClr val="166534"/>
                </a:solidFill>
                <a:latin typeface="Segoe UI"/>
              </a:defRPr>
            </a:pPr>
            <a:r>
              <a:t>Deploy tau = 0.20 with 3-tier clinical nurse escalation protocol.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DECISION SCORECARD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Algorithm Evaluation Matrix &amp; Team Action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188720"/>
                <a:gridCol w="1554480"/>
                <a:gridCol w="1554480"/>
                <a:gridCol w="2560320"/>
                <a:gridCol w="1584655"/>
              </a:tblGrid>
              <a:tr h="339634">
                <a:tc>
                  <a:txBody>
                    <a:bodyPr wrap="square" lIns="73152" rIns="73152"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 Candidate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Features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Hold-out ROC-AUC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Sensitivity (tau=0.20)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Engineering Trade-Off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Team Status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39634">
                <a:tc>
                  <a:txBody>
                    <a:bodyPr wrap="square" lIns="73152" rIns="73152"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Zero-Rule Baseline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0.5000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Accuracy trap; misses all sick patients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Rejected Baseline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9634">
                <a:tc>
                  <a:txBody>
                    <a:bodyPr wrap="square" lIns="73152" rIns="73152"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Logistic Regression (Linear)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0.8336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77.4%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Fast linear baseline; misses interactions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Linear Benchmark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 lIns="73152" rIns="73152"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Decision Tree (depth=5)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0.8357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78.1%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Interpretable tree; single tree instability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Tree Benchmark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9634">
                <a:tc>
                  <a:txBody>
                    <a:bodyPr wrap="square" lIns="73152" rIns="73152"/>
                    <a:lstStyle/>
                    <a:p>
                      <a:pPr algn="l">
                        <a:defRPr sz="900" b="1">
                          <a:solidFill>
                            <a:srgbClr val="166534"/>
                          </a:solidFill>
                          <a:latin typeface="Segoe UI"/>
                        </a:defRPr>
                      </a:pPr>
                      <a:r>
                        <a:t>LightGBM Champion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 b="1">
                          <a:solidFill>
                            <a:srgbClr val="166534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 b="1">
                          <a:solidFill>
                            <a:srgbClr val="166534"/>
                          </a:solidFill>
                          <a:latin typeface="Segoe UI"/>
                        </a:defRPr>
                      </a:pPr>
                      <a:r>
                        <a:t>0.8443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 b="1">
                          <a:solidFill>
                            <a:srgbClr val="166534"/>
                          </a:solidFill>
                          <a:latin typeface="Segoe UI"/>
                        </a:defRPr>
                      </a:pPr>
                      <a:r>
                        <a:t>81.2%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>
                        <a:defRPr sz="900" b="1">
                          <a:solidFill>
                            <a:srgbClr val="166534"/>
                          </a:solidFill>
                          <a:latin typeface="Segoe UI"/>
                        </a:defRPr>
                      </a:pPr>
                      <a:r>
                        <a:t>Replicates Nature paper; fast leaf-wise boosting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 b="1">
                          <a:solidFill>
                            <a:srgbClr val="166534"/>
                          </a:solidFill>
                          <a:latin typeface="Segoe UI"/>
                        </a:defRPr>
                      </a:pPr>
                      <a:r>
                        <a:t>Proposed Champion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339634">
                <a:tc>
                  <a:txBody>
                    <a:bodyPr wrap="square" lIns="73152" rIns="73152"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XGBoost Benchmark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0.8448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81.4%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Confirms depth-wise boosting parity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Validation Benchmark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9636">
                <a:tc>
                  <a:txBody>
                    <a:bodyPr wrap="square" lIns="73152" rIns="73152"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CatBoost Exploration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0.8440 (est.)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81.0% (est.)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Symmetric trees; slower training on binary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ctr">
                        <a:defRPr sz="9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Candidate Under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114800"/>
            <a:ext cx="10728655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10728655" cy="4114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COLLABORATIVE WORK DISTRIBUTION &amp; ACTION ITEMS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103327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Task 1: Algorithm Benchmarking: Run CatBoost and compare against LightGBM and XGBoost on identical hold-out split.  →  [Assignee: Name]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Task 2: Clinical Threshold Trade-Offs: Validate sensitivity vs swab volume across tau = 0.10, 0.20, 0.30, and 0.50.  →  [Assignee: Name]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Task 3: Regulatory Model Card Draft: Assemble Mitchell et al. Model Card sections: intended use, subgroup fairness, and caveats.  →  [Assignee: Name]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• Task 4: Presentation Synthesis: Consolidate team code and final benchmark numbers into joint presentation deck.  →  [Assignee: Name]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