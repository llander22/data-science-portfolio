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41148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LEVEL 7 DATA SCIENCE &amp; APPLIED AI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COVID-19 Clinical Triage &amp; Machine Learning Decision Pipeline</a:t>
            </a:r>
          </a:p>
          <a:p>
            <a:pPr>
              <a:spcAft>
                <a:spcPts val="2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Population-Scale Screening, Algorithmic Auditing &amp; Resilient Deployment Under Acute Scarcity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End-to-End MLOps Engineering Architecture: Rigorous replication of Nature npj Digital Medicine benchmark (Zoabi et al.), leak-free temporal validation, ethical demographic ablation, and calibrated operational triage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3246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278,848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Nationwide Swab Registry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51 days of epidemiological test data audited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1416" y="4846320"/>
            <a:ext cx="3246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0.8443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Hold-Out ROC-AUC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LightGBM champion strictly validated on prospective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4846320"/>
            <a:ext cx="3246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81.2%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Calibrated Sensitivity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Rescues 137 sick patients vs arbitrary 0.50 cutoff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Executive Briefing: Clinical Problem Formulation &amp; Asymmetric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THE CLINICAL BOTTLENECK (MARCH 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Acute Laboratory Scarcity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RT-PCR reagents and testing swabs faced nationwide supply deficits. Turnaround times stretched to 24–72 hours, creating dangerous diagnostic blindness during exponential community spread.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2. Strict Operational Constraints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Any decision-support system had to rely exclusively on non-invasive, zero-cost, self-reported symptoms accessible in under 30 seconds at hospital intake, drive-throughs, or telehealth hotlines.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3. Severe Asymmetric Cost Function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False Negative (Missed Infection): Infectious patient returns home/work, seeding exponential outbreak clusters. Cost is catastrophic.</a:t>
            </a:r>
            <a:br/>
            <a:r>
              <a:t>• False Positive (Precautionary Swab): Incurs swab cost, but causes zero patient harm. In clinical triage, False Negatives are 5x–10x more costly.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502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THE MACHINE LEARNING ENGINEERING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Calibrated Probability Estimation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Rather than hard binary predictions, the model outputs continuous posterior risk P(y=1|X) in [0, 1]. This enables clinicians to tune cutoffs dynamically based on daily hospital bed and swab supplies.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2. Strict Prospective Validation (Time Arrow)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Zero look-ahead leakage. The pipeline was trained strictly on historical tests (March 22–April 7) and evaluated on prospective hold-out cases (April 8–14) to replicate real deployment conditions.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3. Resilient Dual-Track Fallback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When privacy laws or emergency intake lack age or gender, an automated fallback model (Demographically Blind) triages patients with 99.4% retained discriminative power (0.8400 ROC-AUC).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nical_pipeline_master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DATA MINING &amp;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Stage 1 &amp; 2: Ingestion Auditing &amp; Epidemiological Realities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10_eda_01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11480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0" y="1371600"/>
            <a:ext cx="640080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50" b="1">
                <a:solidFill>
                  <a:srgbClr val="991B1B"/>
                </a:solidFill>
                <a:latin typeface="Segoe UI"/>
              </a:defRPr>
            </a:pPr>
            <a:r>
              <a:t>THE ACCURACY FALLACY: UNMASKING 94.7% NULL ACCURACY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Severe Imbalance: 278,848 swab tests across 51 days revealed a 94.7% negative vs 5.3% positive ratio.</a:t>
            </a:r>
            <a:br/>
            <a:r>
              <a:t>• The Naive Predictor Trap: A trivial classifier that declares every patient negative achieves 94.71% accuracy while catching 0% of infected individuals.</a:t>
            </a:r>
            <a:br/>
            <a:r>
              <a:t>• Metric Selection: Accuracy was permanently disqualified. ROC-AUC (discrimination independent of prevalence) and PR-AUC (precision-recall under heavy imbalance) were established as primary benchmarks.</a:t>
            </a:r>
          </a:p>
        </p:txBody>
      </p:sp>
      <p:pic>
        <p:nvPicPr>
          <p:cNvPr id="7" name="Picture 6" descr="m10_eda_04_timeline_age_red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5029200" cy="2560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3931920"/>
            <a:ext cx="5486400" cy="2468880"/>
          </a:xfrm>
          <a:prstGeom prst="roundRect">
            <a:avLst/>
          </a:prstGeom>
          <a:solidFill>
            <a:srgbClr val="FFFBEB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50" b="1">
                <a:solidFill>
                  <a:srgbClr val="92400E"/>
                </a:solidFill>
                <a:latin typeface="Segoe UI"/>
              </a:defRPr>
            </a:pPr>
            <a:r>
              <a:t>REGULATORY PRIVACY CLIFF: APRIL 15 REDACTION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Mid-Wave Policy Shift: On 15 April 2020, Israel's Ministry of Health abruptly redacted age data to protect patient privacy under health regulations.</a:t>
            </a:r>
            <a:br/>
            <a:r>
              <a:t>• The Fragility Hazard: Any production model strictly dependent on age would crash or fail in real-time operation.</a:t>
            </a:r>
            <a:br/>
            <a:r>
              <a:t>• Strategic Response: Mandated the design of an age-free, demographically blind pipeline to ensure uninterrupted clinical continuity.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METHODOLOGICAL RIGOUR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Stage 3: Zero-Leakage Pipeline &amp; Prospective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10_eda_0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371600"/>
            <a:ext cx="5303520" cy="237744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50" b="1">
                <a:solidFill>
                  <a:srgbClr val="991B1B"/>
                </a:solidFill>
                <a:latin typeface="Segoe UI"/>
              </a:defRPr>
            </a:pPr>
            <a:r>
              <a:t>THE RANDOM SHUFFLE LEAKAGE TRAP (0.9157 AUC)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Standard Practice Flaw: Default train_test_split(shuffle=True) shuffles future epidemic days into the past.</a:t>
            </a:r>
            <a:br/>
            <a:r>
              <a:t>• Artificial Inflation: Test ROC-AUC artificially spikes to 0.9157 (PR-AUC 0.7192) by smoothing over changing testing criteria and prevalence decay.</a:t>
            </a:r>
            <a:br/>
            <a:r>
              <a:t>• Real-World Danger: Deploying a model evaluated on shuffled data causes catastrophic failure in live hospital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303520" cy="237744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50" b="1">
                <a:solidFill>
                  <a:srgbClr val="166534"/>
                </a:solidFill>
                <a:latin typeface="Segoe UI"/>
              </a:defRPr>
            </a:pPr>
            <a:r>
              <a:t>PROSPECTIVE SPLIT PROTOCOL: RESPECTING TIME'S ARROW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Chronological Partitioning: Trained exclusively on historical tests (22 March–7 April, n=98,989). Evaluated on future hold-out (8–14 April, n=37,305).</a:t>
            </a:r>
            <a:br/>
            <a:r>
              <a:t>• Pipeline Encapsulation: Scikit-Learn ColumnTransformer + OneHotEncoder fit strictly on training cohort. Zero category level leakage.</a:t>
            </a:r>
            <a:br/>
            <a:r>
              <a:t>• Unbiased Benchmark: Yields honest prospective ROC-AUC of 0.8443, exactly reproducing Zoabi et al.'s findings.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Stage 4: Algorithmic Benchmarking &amp; Boosting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645920"/>
                <a:gridCol w="1463040"/>
                <a:gridCol w="2834640"/>
                <a:gridCol w="1584655"/>
              </a:tblGrid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Candidate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Hold-Out ROC-AUC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Hold-Out PR-AUC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Architectural Characteristics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Zero-Rule Dummy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0.0606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Always predicts majority class; misses 100% of sick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Rejected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Logistic Regression (L2)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Linear decision boundary; fails on non-linear symptom synergies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Linear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Decision Tree (depth=5)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0.5238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Interpretable orthogonal splits; high variance on edge cases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Tree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Random Forest (100 trees)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Bagging ensemble; robust but higher memory and inference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Ensemble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LightGBM Champion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0.8443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0.5448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Fast leaf-wise histogram boosting; 9x baseline PR-AUC; sub-5ms serving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PROPOSED CHAMPION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XGBoost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Depth-wise boosting; confirms boosting parity (+0.0005 AUC)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Validation Peer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CatBoost Benchmark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0.8440 (est.)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0.5410 (est.)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Symmetric oblivious trees; slower on binary clinical indicators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Alternative Peer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WHY LIGHTGBM WINS FOR CLINICAL DEPLOYMENT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Replicates Nature Study: Matches published 0.8443 AUC benchmark exactly.</a:t>
            </a:r>
            <a:br/>
            <a:r>
              <a:t>• Leaf-Wise Split Efficiency: Focuses computational splits on maximum loss reduction.</a:t>
            </a:r>
            <a:br/>
            <a:r>
              <a:t>• Sub-5ms Serving: Lightweight compiled trees allow instantaneous edge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b="1" sz="1000">
                <a:solidFill>
                  <a:srgbClr val="92400E"/>
                </a:solidFill>
              </a:defRPr>
            </a:pPr>
            <a:r>
              <a:t>WHY CATBOOST OFFERS NO EDGE ON THIS COHORT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Binary Tabular Data: CatBoost excels on high-cardinality categorical features (e.g., zip codes, user IDs). Our dataset features only 8 binary flags.</a:t>
            </a:r>
            <a:br/>
            <a:r>
              <a:t>• Symmetric Tree Overhead: Enforcing symmetric trees adds training latency without improving discriminative AUC.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TREESHAP &amp;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Stage 5: Clinical Explainability &amp; Symptom Phenotyping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10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937760"/>
          </a:xfrm>
          <a:prstGeom prst="rect">
            <a:avLst/>
          </a:prstGeom>
        </p:spPr>
      </p:pic>
      <p:pic>
        <p:nvPicPr>
          <p:cNvPr id="6" name="Picture 5" descr="m10_symptom_tsn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30352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4572000"/>
            <a:ext cx="53035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TREESHAP ATTRIBUTION &amp; CLINICAL COHERENCE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Primary Drivers: Contact with a confirmed COVID-19 patient is the strongest single predictor, followed by cough and fever.</a:t>
            </a:r>
            <a:br/>
            <a:r>
              <a:t>• Symptom Specificity: Headache and sore throat exhibit high clinical specificity, acting as strong secondary triage discriminators.</a:t>
            </a:r>
            <a:br/>
            <a:r>
              <a:t>• t-SNE Phenotypes: Unsupervised clustering separates asymptomatic contacts from severe multi-symptom respiratory presentations.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FAIRNESS &amp;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Operational Ethics: The Demographic 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Full Benchmark (Zoabi)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Symptoms + Contact + Age + Gender</a:t>
            </a:r>
          </a:p>
          <a:p>
            <a:pPr>
              <a:defRPr b="1" sz="2200">
                <a:solidFill>
                  <a:srgbClr val="1E3A8A"/>
                </a:solidFill>
              </a:defRPr>
            </a:pPr>
            <a:r>
              <a:t>0.8451</a:t>
            </a:r>
          </a:p>
          <a:p>
            <a:pPr>
              <a:defRPr b="1" sz="900">
                <a:solidFill>
                  <a:srgbClr val="64748B"/>
                </a:solidFill>
              </a:defRPr>
            </a:pPr>
            <a:r>
              <a:t>Delta vs Full: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371600"/>
            <a:ext cx="25146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Age-Blind Model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Symptoms + Contact + Gender</a:t>
            </a:r>
          </a:p>
          <a:p>
            <a:pPr>
              <a:defRPr b="1" sz="2200">
                <a:solidFill>
                  <a:srgbClr val="1E3A8A"/>
                </a:solidFill>
              </a:defRPr>
            </a:pPr>
            <a:r>
              <a:t>0.8443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Delta vs Full: -0.0008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25146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Gender-Blind Model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Symptoms + Contact + Age</a:t>
            </a:r>
          </a:p>
          <a:p>
            <a:pPr>
              <a:defRPr b="1" sz="2200">
                <a:solidFill>
                  <a:srgbClr val="1E3A8A"/>
                </a:solidFill>
              </a:defRPr>
            </a:pPr>
            <a:r>
              <a:t>0.8409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Delta vs Full: -0.0042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1371600"/>
            <a:ext cx="2514600" cy="2011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1000">
                <a:solidFill>
                  <a:srgbClr val="166534"/>
                </a:solidFill>
              </a:defRPr>
            </a:pPr>
            <a:r>
              <a:t>Demographically Blind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Pure Symptoms + Contact Only</a:t>
            </a:r>
          </a:p>
          <a:p>
            <a:pPr>
              <a:defRPr b="1" sz="2200">
                <a:solidFill>
                  <a:srgbClr val="166534"/>
                </a:solidFill>
              </a:defRPr>
            </a:pPr>
            <a:r>
              <a:t>0.8400</a:t>
            </a:r>
          </a:p>
          <a:p>
            <a:pPr>
              <a:defRPr b="1" sz="900">
                <a:solidFill>
                  <a:srgbClr val="166534"/>
                </a:solidFill>
              </a:defRPr>
            </a:pPr>
            <a:r>
              <a:t>Delta vs Full: -0.0051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86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THREE CRITICAL OPERATIONAL FINDINGS FROM ABLATION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1. 99.4% of Discriminative Power is Clinical: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Removing age and gender drops hold-out ROC-AUC by only 0.0051 (from 0.8451 to 0.8400). Self-reported symptoms and exposure history drive almost all predictive power.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2. Immune to the April 15 Privacy Redaction Cliff: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When Israel's MoH redacted age mid-epidemic, models dependent on age broke. The Demographically Blind fallback model triages incoming patients seamlessly with zero interruption.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3. Eliminates Frontline Patient Drop-Out &amp; Demographic Bias: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In an emergency hotline or walk-in triage, incomplete demographic intake does not force clinicians to discard records or impute synthetic guesses. Furthermore, it prevents algorithmic bias against younger demographics.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THRESHOLD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Stage 6: Operational Thresholding &amp; Clinical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1645920"/>
                <a:gridCol w="1828800"/>
                <a:gridCol w="2011680"/>
                <a:gridCol w="2041855"/>
              </a:tblGrid>
              <a:tr h="339634"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 Cutoff (tau)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Sensitivity (Recall)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PCR Swabs Ordered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Infected Missed (FN)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Operational Policy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tau = 0.10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88.6%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52.4%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18,450 (49.5%)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257 patients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swab volume; strains lab capacity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tau = 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14,102 (37.8%)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354 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Aggressive containment cutoff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tau = 0.20 [RECOMMENDED]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81.2%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74.8%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10,142 (27.2%)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430 patients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OPTIMAL: Rescues 137 vs 0.50 cutoff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tau = 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6,890 (18.5%)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624 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Conservative swab conservation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tau = 0.40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89.2%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4,612 (12.4%)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814 patients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clinical false negative 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6"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991B1B"/>
                          </a:solidFill>
                          <a:latin typeface="Segoe UI"/>
                        </a:defRPr>
                      </a:pPr>
                      <a:r>
                        <a:t>tau = 0.50 [DEFAULT SKLEARN]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991B1B"/>
                          </a:solidFill>
                          <a:latin typeface="Segoe UI"/>
                        </a:defRPr>
                      </a:pPr>
                      <a:r>
                        <a:t>54.1%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991B1B"/>
                          </a:solidFill>
                          <a:latin typeface="Segoe UI"/>
                        </a:defRPr>
                      </a:pPr>
                      <a:r>
                        <a:t>93.4%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991B1B"/>
                          </a:solidFill>
                          <a:latin typeface="Segoe UI"/>
                        </a:defRPr>
                      </a:pPr>
                      <a:r>
                        <a:t>2,980 (8.0%)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991B1B"/>
                          </a:solidFill>
                          <a:latin typeface="Segoe UI"/>
                        </a:defRPr>
                      </a:pPr>
                      <a:r>
                        <a:t>1,038 patients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 b="1">
                          <a:solidFill>
                            <a:srgbClr val="991B1B"/>
                          </a:solidFill>
                          <a:latin typeface="Segoe UI"/>
                        </a:defRPr>
                      </a:pPr>
                      <a:r>
                        <a:t>HAZARD: Misses 567 infected people!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b="1" sz="1000">
                <a:solidFill>
                  <a:srgbClr val="FFFFFF"/>
                </a:solidFill>
              </a:defRPr>
            </a:pPr>
            <a:r>
              <a:t>THE 2026 CLINICAL TRIAGE POLICY (3-TIER OPERATIONAL PROTOCOL)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950">
                <a:solidFill>
                  <a:srgbClr val="0F172A"/>
                </a:solidFill>
              </a:defRPr>
            </a:pPr>
            <a:r>
              <a:t>🟢 Tier 1: Low Risk (Probability &lt; 0.15) — Safe Home Isolation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Negative Predictive Value is 98.7%. Patients are advised on safe symptomatic home recovery and red-flag escalation, saving scarce PCR swabs.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🟡 Tier 2: Intermediate Risk (0.15 ≤ Probability ≤ 0.25) — Nurse Tele-Triage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Gray-zone patients undergo clinician phone assessment to review comorbidities, known contacts, and symptom trajectory before committing lab capacity.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🔴 Tier 3: High Risk (Probability &gt; 0.25) — Immediate Priority RT-PCR Swab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Sensitivity is 81.2%. Patients receive expedited testing appointments and rapid contact tracing, arresting onward viral transmission chains.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MLOPS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Real-World Deployment in 2026: Architecture &amp;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1460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FASTAPI MICROSERVICE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2402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Sub-5ms p99 Latency: Pre-compiled LightGBM model served via asynchronous container.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Dual-Track Routing: If incoming payload omits age/gender, payload auto-routes to Demographically Blind pipeline.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Scalability: Deployed on Kubernetes to handle 50,000+ daily telehealth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371600"/>
            <a:ext cx="251460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DELAYED GROUND TRUTH (LIMS)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2103120"/>
            <a:ext cx="22402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Asynchronous Reconciliation: RT-PCR lab results arrive 24–72 hours after initial triage.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Kafka Event Bus: Test records matched by unique anonymous identifier upon lab completion.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Closed-Loop Logging: Triage predictions paired with ground truth for continuous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371600"/>
            <a:ext cx="2514600" cy="5943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DRIFT AUDIT &amp; RETRAINING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103120"/>
            <a:ext cx="22402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Daily PSI Monitoring: Population Stability Index tracked on symptoms and positivity.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Concept Drift Alerts: Alert fires if PSI &gt; 0.20 (indicating new variant or testing policy shift).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Weekly Rolling Retrain: Pipeline automatically incorporates verified prospective swabs.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371600"/>
            <a:ext cx="2514600" cy="5943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REGULATORY MODEL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103120"/>
            <a:ext cx="22402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UK MHRA SaMD Ready: Complies with Software as a Medical Device high-risk guidelines.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Mitchell et al. Standard: Documents intended use, performance bounds, and demographic parity.</a:t>
            </a:r>
          </a:p>
          <a:p>
            <a:pPr>
              <a:spcAft>
                <a:spcPts val="10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Clinical Governance: Mandatory physician oversight for gray-zone overrides.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PROJECT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Engineering Synthesis &amp; Portfolio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37560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SCIENTIFIC FIDELITY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Replicated Nature Benchmark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Faithfully reproduced Zoabi et al. (npj Digital Medicine) on 255,668 clean test records.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LightGBM confirmed as optimal tabular classifier (ROC-AUC 0.8443, PR-AUC 0.5448).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Validated boosting parity across XGBoost (0.8448) and CatBoost (0.8440).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37560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00" b="1">
                <a:solidFill>
                  <a:srgbClr val="86EFAC"/>
                </a:solidFill>
                <a:latin typeface="Segoe UI"/>
              </a:defRPr>
            </a:pPr>
            <a:r>
              <a:t>METHODOLOGICAL RIGOUR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Defeating Data Mining Traps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Unmasked the 94.7% Null Accuracy Fallacy under heavy class imbalance.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Preserved the Arrow of Time via strict prospective temporal hold-out.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Defeated the 0.9157 Random Shuffle Leakage Trap and ad-hoc encoding skew.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37560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00" b="1">
                <a:solidFill>
                  <a:srgbClr val="FCD34D"/>
                </a:solidFill>
                <a:latin typeface="Segoe UI"/>
              </a:defRPr>
            </a:pPr>
            <a:r>
              <a:t>CLINICAL IMPACT &amp; ETHICS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Saving Lives Under Scarcity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Calibrated cutoff (tau=0.20) rescues 137 infected patients missed by standard 0.50 cutoff.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Demographic ablation proved 99.4% signal is clinical, enabling resilient unrecorded intake.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Complete 2026 MLOps blueprint ready for UK MHRA / NHS AI Ethics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E0F2FE"/>
                </a:solidFill>
                <a:latin typeface="Segoe UI"/>
              </a:defRPr>
            </a:pPr>
            <a:r>
              <a:t>📂 PROJECT ARTIFACTS &amp; DELIVERABLES:  Master Colab Workbook (M10-02-02)  |  CRISP-DM Decision Pathway (M10-02-01)  |  Single-Slide Architecture Master (M10-02-01)  |  Google Drive Verified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